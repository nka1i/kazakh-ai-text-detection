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2026/9/12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01. Research Background &amp; Motivation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02. Related Work &amp; SOTA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03. Research Content &amp; Architecture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06. Conclusion &amp; Thesis Roadmap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04. Experiments &amp; Benchmark Evaluation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rPr dirty="0"/>
              <a:t>05. Engineering &amp; Demonstration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A unified hierarchical framework spanning sentence-level morpho-gating, document-level chunk aggregation, and evidence-grounded trust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91640"/>
            <a:ext cx="11094415" cy="443484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6163056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pic>
        <p:nvPicPr>
          <p:cNvPr id="125" name="Picture 124" descr="fig04_morpho_gate_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39" y="1874519"/>
            <a:ext cx="5733101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331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4. Dual-Stream Morphological Gated Cross-Attention Architecture with </a:t>
            </a:r>
            <a:r>
              <a:rPr sz="900" dirty="0" err="1"/>
              <a:t>SupCon</a:t>
            </a:r>
            <a:r>
              <a:rPr sz="900" dirty="0"/>
              <a:t> Optimization.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91468" y="1874519"/>
            <a:ext cx="5248843" cy="21656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391468" y="1874519"/>
            <a:ext cx="5248843" cy="3501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88932" y="1911095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05176" y="2276856"/>
            <a:ext cx="5007120" cy="1198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91468" y="4160519"/>
            <a:ext cx="5248843" cy="207348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391468" y="4160520"/>
            <a:ext cx="5248843" cy="3501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488932" y="4197096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05176" y="4562855"/>
            <a:ext cx="5007120" cy="889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886" y="1874519"/>
            <a:ext cx="5752562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6106" y="1874518"/>
            <a:ext cx="5474206" cy="2174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66106" y="1874518"/>
            <a:ext cx="5474206" cy="35169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272464" y="1911094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90192" y="2276855"/>
            <a:ext cx="5222104" cy="169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1</a:t>
            </a:r>
            <a:r>
              <a:rPr sz="1100" dirty="0"/>
              <a:t>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Bibliographic/temporal: </a:t>
            </a:r>
            <a:r>
              <a:rPr sz="1100" dirty="0" err="1"/>
              <a:t>т.б</a:t>
            </a:r>
            <a:r>
              <a:rPr sz="1100" dirty="0"/>
              <a:t>. (</a:t>
            </a:r>
            <a:r>
              <a:rPr sz="1100" dirty="0" err="1"/>
              <a:t>және</a:t>
            </a:r>
            <a:r>
              <a:rPr sz="1100" dirty="0"/>
              <a:t> </a:t>
            </a:r>
            <a:r>
              <a:rPr sz="1100" dirty="0" err="1"/>
              <a:t>басқалары</a:t>
            </a:r>
            <a:r>
              <a:rPr sz="1100" dirty="0"/>
              <a:t>), </a:t>
            </a:r>
            <a:r>
              <a:rPr sz="1100" dirty="0" err="1"/>
              <a:t>ж.б</a:t>
            </a:r>
            <a:r>
              <a:rPr sz="1100" dirty="0"/>
              <a:t>., ғ. (</a:t>
            </a:r>
            <a:r>
              <a:rPr sz="1100" dirty="0" err="1"/>
              <a:t>ғасыр</a:t>
            </a:r>
            <a:r>
              <a:rPr sz="1100" dirty="0"/>
              <a:t>), </a:t>
            </a:r>
            <a:r>
              <a:rPr sz="1100" dirty="0" err="1"/>
              <a:t>ғғ</a:t>
            </a:r>
            <a:r>
              <a:rPr sz="1100" dirty="0"/>
              <a:t>., ж. (</a:t>
            </a:r>
            <a:r>
              <a:rPr sz="1100" dirty="0" err="1"/>
              <a:t>жыл</a:t>
            </a:r>
            <a:r>
              <a:rPr sz="1100" dirty="0"/>
              <a:t>), </a:t>
            </a:r>
            <a:r>
              <a:rPr sz="1100" dirty="0" err="1"/>
              <a:t>жж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Administrative/exemplary: қ. (</a:t>
            </a:r>
            <a:r>
              <a:rPr sz="1100" dirty="0" err="1"/>
              <a:t>қала</a:t>
            </a:r>
            <a:r>
              <a:rPr sz="1100" dirty="0"/>
              <a:t>), </a:t>
            </a:r>
            <a:r>
              <a:rPr sz="1100" dirty="0" err="1"/>
              <a:t>мыс</a:t>
            </a:r>
            <a:r>
              <a:rPr sz="1100" dirty="0"/>
              <a:t>. (</a:t>
            </a:r>
            <a:r>
              <a:rPr sz="1100" dirty="0" err="1"/>
              <a:t>мысалы</a:t>
            </a:r>
            <a:r>
              <a:rPr sz="1100" dirty="0"/>
              <a:t>), </a:t>
            </a:r>
            <a:r>
              <a:rPr sz="1100" dirty="0" err="1"/>
              <a:t>проф</a:t>
            </a:r>
            <a:r>
              <a:rPr sz="1100" dirty="0"/>
              <a:t>. (</a:t>
            </a:r>
            <a:r>
              <a:rPr sz="1100" dirty="0" err="1"/>
              <a:t>профессор</a:t>
            </a:r>
            <a:r>
              <a:rPr sz="1100" dirty="0"/>
              <a:t>), </a:t>
            </a:r>
            <a:r>
              <a:rPr sz="1100" dirty="0" err="1"/>
              <a:t>акад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Direct Dialogue &amp; Quote Attribution: Handles embedded dialogue dashes ('— </a:t>
            </a:r>
            <a:r>
              <a:rPr sz="1100" dirty="0" err="1"/>
              <a:t>деді</a:t>
            </a:r>
            <a:r>
              <a:rPr sz="1100" dirty="0"/>
              <a:t> </a:t>
            </a:r>
            <a:r>
              <a:rPr sz="1100" dirty="0" err="1"/>
              <a:t>ол</a:t>
            </a:r>
            <a:r>
              <a:rPr sz="1100" dirty="0"/>
              <a:t>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Exact Character Span Fidelity: document[</a:t>
            </a:r>
            <a:r>
              <a:rPr sz="1100" dirty="0" err="1"/>
              <a:t>chunk.start_char</a:t>
            </a:r>
            <a:r>
              <a:rPr sz="1100" dirty="0"/>
              <a:t> : </a:t>
            </a:r>
            <a:r>
              <a:rPr sz="1100" dirty="0" err="1"/>
              <a:t>chunk.end_char</a:t>
            </a:r>
            <a:r>
              <a:rPr sz="1100" dirty="0"/>
              <a:t>] == </a:t>
            </a:r>
            <a:r>
              <a:rPr sz="1100" dirty="0" err="1"/>
              <a:t>chunk.text</a:t>
            </a:r>
            <a:r>
              <a:rPr sz="1100" dirty="0"/>
              <a:t>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66106" y="4160519"/>
            <a:ext cx="5474206" cy="208241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166106" y="4160519"/>
            <a:ext cx="5474206" cy="35169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272464" y="4197095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90192" y="4562855"/>
            <a:ext cx="5222104" cy="1487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Dynamic Top-K Formula: K = max(1, min(</a:t>
            </a:r>
            <a:r>
              <a:rPr sz="1100" dirty="0" err="1"/>
              <a:t>k_cfg</a:t>
            </a:r>
            <a:r>
              <a:rPr sz="1100" dirty="0"/>
              <a:t>, ceil(0.25 * M))), </a:t>
            </a:r>
            <a:r>
              <a:rPr sz="1100" dirty="0" err="1"/>
              <a:t>Score_doc</a:t>
            </a:r>
            <a:r>
              <a:rPr sz="1100" dirty="0"/>
              <a:t> = (1 / K) * sum(</a:t>
            </a:r>
            <a:r>
              <a:rPr sz="1100" dirty="0" err="1"/>
              <a:t>Score_worst_i</a:t>
            </a:r>
            <a:r>
              <a:rPr sz="1100" dirty="0"/>
              <a:t>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Three-Tier Verdict: Authentic Human (&lt;0.40, </a:t>
            </a:r>
            <a:r>
              <a:rPr sz="1100" dirty="0" err="1"/>
              <a:t>Ratio_AI</a:t>
            </a:r>
            <a:r>
              <a:rPr sz="1100" dirty="0"/>
              <a:t>&lt;0.15), Partially AI / Hybrid (Score&gt;=0.40, </a:t>
            </a:r>
            <a:r>
              <a:rPr sz="1100" dirty="0" err="1"/>
              <a:t>Ratio_AI</a:t>
            </a:r>
            <a:r>
              <a:rPr sz="1100" dirty="0"/>
              <a:t>&lt;0.50), Machine-Generated (&gt;=0.50, </a:t>
            </a:r>
            <a:r>
              <a:rPr sz="1100" dirty="0" err="1"/>
              <a:t>Ratio_AI</a:t>
            </a:r>
            <a:r>
              <a:rPr sz="1100" dirty="0"/>
              <a:t>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4. Defensive Micro-Batching: Ingestion micro-batched at </a:t>
            </a:r>
            <a:r>
              <a:rPr sz="1100" dirty="0" err="1"/>
              <a:t>batch_size</a:t>
            </a:r>
            <a:r>
              <a:rPr sz="1100" dirty="0"/>
              <a:t>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563" y="1874519"/>
            <a:ext cx="6067137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80550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1428" y="1874519"/>
            <a:ext cx="5108883" cy="2193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531428" y="1874519"/>
            <a:ext cx="5108883" cy="35471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623366" y="1911095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38690" y="2276855"/>
            <a:ext cx="4873605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1428" y="4160520"/>
            <a:ext cx="5108883" cy="210028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531428" y="4160520"/>
            <a:ext cx="5108883" cy="35471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623366" y="4197096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638690" y="4562854"/>
            <a:ext cx="487360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Dual-Risk Trust Scoring Formulation: </a:t>
            </a:r>
            <a:r>
              <a:rPr sz="1000" dirty="0" err="1"/>
              <a:t>Risk_Trust</a:t>
            </a:r>
            <a:r>
              <a:rPr sz="1000" dirty="0"/>
              <a:t> = alpha * </a:t>
            </a:r>
            <a:r>
              <a:rPr sz="1000" dirty="0" err="1"/>
              <a:t>Risk_AI</a:t>
            </a:r>
            <a:r>
              <a:rPr sz="1000" dirty="0"/>
              <a:t> + (1 - alpha) * </a:t>
            </a:r>
            <a:r>
              <a:rPr sz="1000" dirty="0" err="1"/>
              <a:t>Risk_Fact</a:t>
            </a:r>
            <a:r>
              <a:rPr sz="1000" dirty="0"/>
              <a:t>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8. Multi-Quadrant ROC Curves on ACL Kaz-MAGE Benchmark Demonstrating +42.18%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pic>
        <p:nvPicPr>
          <p:cNvPr id="125" name="Picture 124" descr="fig13_gradio_dashboard_pane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Production-ready deployment bundle with 1-click cloud launching, sub-second cold starts, and 288 passing tests</a:t>
            </a:r>
          </a:p>
        </p:txBody>
      </p:sp>
      <p:pic>
        <p:nvPicPr>
          <p:cNvPr id="125" name="Picture 124" descr="fig14_cloud_deployment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441" y="1874519"/>
            <a:ext cx="5835406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14. Hugging Face </a:t>
            </a:r>
            <a:r>
              <a:rPr sz="1000" dirty="0"/>
              <a:t>Spaces</a:t>
            </a:r>
            <a:r>
              <a:rPr sz="900" dirty="0"/>
              <a:t>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295684" y="1874519"/>
            <a:ext cx="1750835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291072" y="1874519"/>
            <a:ext cx="72951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23198" y="1947672"/>
            <a:ext cx="1568457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288 / 288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188492" y="1874519"/>
            <a:ext cx="1750835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8183880" y="1874519"/>
            <a:ext cx="72951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316006" y="1947672"/>
            <a:ext cx="1568457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081350" y="1874519"/>
            <a:ext cx="1769073" cy="1691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0076688" y="1874519"/>
            <a:ext cx="72951" cy="16916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0208864" y="1947672"/>
            <a:ext cx="1586695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100%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Zero Emoji Design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Strict typography compliant with academic standards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06112" y="3703320"/>
            <a:ext cx="554431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306112" y="3703320"/>
            <a:ext cx="554431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415238" y="3739896"/>
            <a:ext cx="5325458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33426" y="4105655"/>
            <a:ext cx="5288982" cy="1962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Bilingual Interface: Instant toggle between Kazakh (</a:t>
            </a:r>
            <a:r>
              <a:rPr sz="1200" dirty="0" err="1"/>
              <a:t>Қазақша</a:t>
            </a:r>
            <a:r>
              <a:rPr sz="1200" dirty="0"/>
              <a:t>) and English (EN) across all 4 dashboard tabs and error handlers.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eliminating out-of-domain collapse (+42.18% AUC gain).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Constructed the first evidence-grounded factual verification corpus for Kazakh, establishing a dual-risk framework decoupling factual veracity from AI style.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Institutional Impact: Open-Source Production Deployment: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statement.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Mathematical formulations of Topics 1, 2, and 3.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Kaz-MAGE 2x2 matrix, Kazakh-FEVER, ablation tables.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- 4-tab Gradio dashboard, HF Spaces, latency profiling.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cross-attention and Kaz-MAGE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Kaz-MAGE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311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4983</Words>
  <Application>Microsoft Office PowerPoint</Application>
  <PresentationFormat>Широкоэкранный</PresentationFormat>
  <Paragraphs>632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120</cp:revision>
  <dcterms:created xsi:type="dcterms:W3CDTF">2023-08-09T12:44:00Z</dcterms:created>
  <dcterms:modified xsi:type="dcterms:W3CDTF">2026-09-12T14:18:07Z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