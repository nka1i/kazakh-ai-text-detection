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634" r:id="rId2"/>
    <p:sldId id="648" r:id="rId3"/>
    <p:sldId id="569" r:id="rId4"/>
    <p:sldId id="715" r:id="rId5"/>
    <p:sldId id="716" r:id="rId6"/>
    <p:sldId id="718" r:id="rId7"/>
    <p:sldId id="719" r:id="rId8"/>
    <p:sldId id="707" r:id="rId9"/>
    <p:sldId id="725" r:id="rId10"/>
    <p:sldId id="702" r:id="rId11"/>
    <p:sldId id="708" r:id="rId12"/>
    <p:sldId id="709" r:id="rId13"/>
    <p:sldId id="722" r:id="rId14"/>
    <p:sldId id="703" r:id="rId15"/>
    <p:sldId id="713" r:id="rId16"/>
    <p:sldId id="723" r:id="rId17"/>
    <p:sldId id="721" r:id="rId18"/>
    <p:sldId id="712" r:id="rId19"/>
    <p:sldId id="711" r:id="rId20"/>
    <p:sldId id="724" r:id="rId21"/>
    <p:sldId id="704" r:id="rId22"/>
    <p:sldId id="705" r:id="rId23"/>
    <p:sldId id="635" r:id="rId24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tags" Target="tags/tag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Respected committee members, advisor Professor Guo, and fellow researchers: I am Daulet Anekesh. Today I am presenting my Master's thesis progress report on 'Morphologically-Grounded AI-Generated Text Detection and Evidence-Based Verification in Low-Resource Kazakh'.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  <a:t>1</a:t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2026/9/13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microsoft.com/office/2007/relationships/hdphoto" Target="../media/hdphoto1.wdp"/><Relationship Id="rId7" Type="http://schemas.openxmlformats.org/officeDocument/2006/relationships/image" Target="../media/image11.png"/><Relationship Id="rId8" Type="http://schemas.microsoft.com/office/2007/relationships/hdphoto" Target="../media/hdphoto2.wdp"/><Relationship Id="rId9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tags" Target="../tags/tag15.xml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tags" Target="../tags/tag21.xml"/><Relationship Id="rId18" Type="http://schemas.openxmlformats.org/officeDocument/2006/relationships/slideLayout" Target="../slideLayouts/slideLayout9.xml"/><Relationship Id="rId19" Type="http://schemas.openxmlformats.org/officeDocument/2006/relationships/notesSlide" Target="../notesSlides/notesSlide2.xml"/><Relationship Id="rId20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6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7.png"/><Relationship Id="rId6" Type="http://schemas.openxmlformats.org/officeDocument/2006/relationships/image" Target="../media/image31.png"/><Relationship Id="rId7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6.png"/><Relationship Id="rId6" Type="http://schemas.openxmlformats.org/officeDocument/2006/relationships/image" Target="../media/image32.png"/><Relationship Id="rId7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7.png"/><Relationship Id="rId6" Type="http://schemas.openxmlformats.org/officeDocument/2006/relationships/image" Target="../media/image30.png"/><Relationship Id="rId7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3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4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7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     </a:t>
            </a:r>
            <a:r>
              <a:rPr dirty="0" err="1"/>
              <a:t>导师：郭教授</a:t>
            </a:r>
            <a:r>
              <a:rPr dirty="0"/>
              <a:t>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endParaRPr lang="en-US" dirty="0"/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rPr dirty="0"/>
              <a:t>Degree: Master of Science in Computer Science and Technology | School of Computer Science, NPU &amp; </a:t>
            </a:r>
            <a:r>
              <a:rPr dirty="0" err="1"/>
              <a:t>KazNU</a:t>
            </a:r>
            <a:endParaRPr dirty="0"/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952875" y="989330"/>
            <a:ext cx="5039995" cy="514985"/>
            <a:chOff x="6225" y="2317"/>
            <a:chExt cx="7937" cy="811"/>
          </a:xfrm>
        </p:grpSpPr>
        <p:sp>
          <p:nvSpPr>
            <p:cNvPr id="71" name="学科特色鲜明"/>
            <p:cNvSpPr txBox="1"/>
            <p:nvPr>
              <p:custDataLst>
                <p:tags r:id="rId16"/>
              </p:custDataLst>
            </p:nvPr>
          </p:nvSpPr>
          <p:spPr>
            <a:xfrm>
              <a:off x="7320" y="2317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t>01. Research Background &amp; Motivation</a:t>
              </a:r>
            </a:p>
          </p:txBody>
        </p:sp>
        <p:cxnSp>
          <p:nvCxnSpPr>
            <p:cNvPr id="72" name="点缀线段"/>
            <p:cNvCxnSpPr>
              <a:cxnSpLocks/>
            </p:cNvCxnSpPr>
            <p:nvPr>
              <p:custDataLst>
                <p:tags r:id="rId17"/>
              </p:custDataLst>
            </p:nvPr>
          </p:nvCxnSpPr>
          <p:spPr>
            <a:xfrm>
              <a:off x="7320" y="3117"/>
              <a:ext cx="6780" cy="1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952875" y="1850390"/>
            <a:ext cx="5116195" cy="508000"/>
            <a:chOff x="6225" y="3628"/>
            <a:chExt cx="8057" cy="817"/>
          </a:xfrm>
        </p:grpSpPr>
        <p:sp>
          <p:nvSpPr>
            <p:cNvPr id="75" name="学科特色鲜明"/>
            <p:cNvSpPr txBox="1"/>
            <p:nvPr>
              <p:custDataLst>
                <p:tags r:id="rId14"/>
              </p:custDataLst>
            </p:nvPr>
          </p:nvSpPr>
          <p:spPr>
            <a:xfrm>
              <a:off x="7320" y="3628"/>
              <a:ext cx="4669" cy="5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t>02. Related Work &amp; SOTA Challenges</a:t>
              </a:r>
            </a:p>
          </p:txBody>
        </p:sp>
        <p:cxnSp>
          <p:nvCxnSpPr>
            <p:cNvPr id="76" name="点缀线段"/>
            <p:cNvCxnSpPr>
              <a:cxnSpLocks/>
            </p:cNvCxnSpPr>
            <p:nvPr>
              <p:custDataLst>
                <p:tags r:id="rId15"/>
              </p:custDataLst>
            </p:nvPr>
          </p:nvCxnSpPr>
          <p:spPr>
            <a:xfrm>
              <a:off x="7320" y="4445"/>
              <a:ext cx="696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3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5018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t>03. Research Content &amp; Methodological Framework</a:t>
              </a:r>
            </a:p>
          </p:txBody>
        </p:sp>
        <p:cxnSp>
          <p:nvCxnSpPr>
            <p:cNvPr id="80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8"/>
              </p:custDataLst>
            </p:nvPr>
          </p:nvSpPr>
          <p:spPr>
            <a:xfrm>
              <a:off x="7320" y="7292"/>
              <a:ext cx="73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t>04. Experiments &amp; Benchmark Evaluation</a:t>
              </a:r>
            </a:p>
          </p:txBody>
        </p:sp>
        <p:cxnSp>
          <p:nvCxnSpPr>
            <p:cNvPr id="15" name="点缀线段"/>
            <p:cNvCxnSpPr/>
            <p:nvPr>
              <p:custDataLst>
                <p:tags r:id="rId9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7" name="点缀线段"/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4648200" y="4940300"/>
            <a:ext cx="519559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学科特色鲜明"/>
          <p:cNvSpPr txBox="1"/>
          <p:nvPr>
            <p:custDataLst>
              <p:tags r:id="rId6"/>
            </p:custDataLst>
          </p:nvPr>
        </p:nvSpPr>
        <p:spPr>
          <a:xfrm>
            <a:off x="4648200" y="4432300"/>
            <a:ext cx="5858069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t>05. Engineering Implementation &amp; Prototype Demonstration</a:t>
            </a:r>
          </a:p>
        </p:txBody>
      </p: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0"/>
              </p:custDataLst>
            </p:nvPr>
          </p:nvSpPr>
          <p:spPr>
            <a:xfrm>
              <a:off x="7320" y="8693"/>
              <a:ext cx="87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t>06. Conclusion &amp; Thesis Roadmap</a:t>
              </a:r>
            </a:p>
          </p:txBody>
        </p:sp>
        <p:cxnSp>
          <p:nvCxnSpPr>
            <p:cNvPr id="8" name="点缀线段"/>
            <p:cNvCxnSpPr/>
            <p:nvPr>
              <p:custDataLst>
                <p:tags r:id="rId11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54736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470653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1. </a:t>
            </a:r>
            <a:r>
              <a:rPr sz="900" dirty="0" err="1"/>
              <a:t>Subword</a:t>
            </a:r>
            <a:r>
              <a:rPr sz="900" dirty="0"/>
              <a:t>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2708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72708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300724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Suffixes per nominal/verbal stem; breaks standard </a:t>
            </a:r>
            <a:r>
              <a:rPr sz="1200" dirty="0" err="1"/>
              <a:t>subword</a:t>
            </a:r>
            <a:r>
              <a:rPr sz="1200" dirty="0"/>
              <a:t>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3478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9034780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9162796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rPr dirty="0"/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72708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72708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300724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034780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9034780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9162796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2. Morphological Domain Collapse on </a:t>
            </a:r>
            <a:r>
              <a:rPr sz="900" dirty="0"/>
              <a:t>Seen</a:t>
            </a:r>
            <a:r>
              <a:rPr dirty="0"/>
              <a:t> vs. </a:t>
            </a:r>
            <a:r>
              <a:rPr sz="900" dirty="0"/>
              <a:t>Out-of-Domain</a:t>
            </a:r>
            <a:r>
              <a:rPr dirty="0"/>
              <a:t>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- </a:t>
            </a:r>
            <a:r>
              <a:rPr sz="1000" dirty="0"/>
              <a:t>Observed Failure: Pretrained </a:t>
            </a:r>
            <a:r>
              <a:rPr sz="1000" dirty="0" err="1"/>
              <a:t>RoBERTa</a:t>
            </a:r>
            <a:r>
              <a:rPr sz="1000" dirty="0"/>
              <a:t>/</a:t>
            </a:r>
            <a:r>
              <a:rPr sz="1000" dirty="0" err="1"/>
              <a:t>mBERT</a:t>
            </a:r>
            <a:r>
              <a:rPr sz="1000" dirty="0"/>
              <a:t>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</a:t>
            </a:r>
            <a:r>
              <a:rPr sz="1000" dirty="0" err="1"/>
              <a:t>KazRoBERTa</a:t>
            </a:r>
            <a:r>
              <a:rPr sz="1000" dirty="0"/>
              <a:t>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Comparison of mainstream detection methodologies and their critical performance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Dual-Stream FST + Gated Fusion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rPr sz="1200" dirty="0"/>
              <a:t>Summary of Table Findings: Prior methods report &gt;90% accuracy on English benchmarks (MAGE, RAID), but experience up to 40% performance degradation on Kazakh due to morphological </a:t>
            </a:r>
            <a:r>
              <a:rPr sz="1200" dirty="0" err="1"/>
              <a:t>subword</a:t>
            </a:r>
            <a:r>
              <a:rPr sz="1200" dirty="0"/>
              <a:t>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223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Pretrained transformer classifiers experience severe degradation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Explicit morphological decomposition via Finite State Transducers (FST) acts as a domain-invariant structural </a:t>
            </a:r>
            <a:r>
              <a:rPr sz="1200" dirty="0" err="1"/>
              <a:t>regularizer</a:t>
            </a:r>
            <a:r>
              <a:rPr sz="1200" dirty="0"/>
              <a:t>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VitaminC</a:t>
            </a:r>
            <a:r>
              <a:rPr sz="1200" dirty="0"/>
              <a:t>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SciFact</a:t>
            </a:r>
            <a:r>
              <a:rPr sz="1200" dirty="0"/>
              <a:t>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Comprehensive Methodological Framework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A unified 3-column architecture spanning edge ingestion, dual-stream feature fusion with ablated baselines, and 3-tier portal verification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C5FFCFC5-071F-60ED-0586-86C631B5B6B3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AAC6C56-FB0F-8D23-46C6-1B6559D65A20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1691640"/>
            <a:ext cx="11094415" cy="443484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Overall Methodological Innovation Framework for Kazakh AI-Generated Text Detection and Factual Verification.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Morphology-Aware Gated Fusion &amp; SupCon Loss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Fusing contextual semantic representations with 83-rule FST morphological inductive bias via dynamic gating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4A1B8AC2-5A96-9F02-C442-495787ECAE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7A4F124-DF3F-DCD2-7312-29F84AA5B9D1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4. Dual-Stream Morphology-Aware Gated Fusion Architecture with SupCon Optimization.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Dual-Stream Morphology-Aware Gated Fusion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Dynamic Morphology-Aware Gating Formulation: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Computes element-wise gate g = sigma(W_g [h_sem; W_proj h_morph] + b_g), yielding h_fused = g * h_sem + (1 - g) * (W_proj h_morph). Automatically routes regular Turkic inflectional affix cues.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Grounding the 83-Rule FST Transducer: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Built on rule-based finite-state morphology validated on 5,000 dictionary headwords across nominal and verbal paradigms (99.2% inflectional coverage; case markers -ның/-нің, verbal -ған/-ген).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Dynamic Gating Parameter Distribution: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Illustrative sample gate g = 0.682 (KazRoBERTa 68%, FST 32%). Across morphologically rich colloquial spans, empirical mean gate values range g in [0.55, 0.78].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14800"/>
            <a:ext cx="55595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14800"/>
            <a:ext cx="555955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5137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Supervised Contrastive (SupCon) Representation Learning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17136"/>
            <a:ext cx="5303520" cy="16459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  <a:latin typeface="Arial"/>
              </a:defRPr>
            </a:pPr>
            <a:r>
              <a:t>1. Latent Separation Objective in R^128: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Optimizes total loss L_total = L_BCE + lambda * L_SupCon (lambda = 0.10). Enforces tight intra-class clustering for Human vs. AI latent representations regardless of domain shifts.</a:t>
            </a:r>
          </a:p>
          <a:p>
            <a:pPr>
              <a:spcBef>
                <a:spcPts val="350"/>
              </a:spcBef>
              <a:defRPr sz="850" b="1">
                <a:solidFill>
                  <a:srgbClr val="0D9488"/>
                </a:solidFill>
                <a:latin typeface="Arial"/>
              </a:defRPr>
            </a:pPr>
            <a:r>
              <a:t>2. Generator-Agnostic Invariance: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Decouples lexical surface patterns from underlying morphological regularity, substantially mitigating domain collapse (+42.18 pp OOD gain).</a:t>
            </a:r>
          </a:p>
          <a:p>
            <a:pPr>
              <a:spcBef>
                <a:spcPts val="350"/>
              </a:spcBef>
              <a:defRPr sz="850" b="1">
                <a:solidFill>
                  <a:srgbClr val="0D9488"/>
                </a:solidFill>
                <a:latin typeface="Arial"/>
              </a:defRPr>
            </a:pPr>
            <a:r>
              <a:t>3. Planned Paper 2 Contrastive Expansion: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Extending SupCon positive pairs to explicitly align original AI text with paraphrased and perturbed variants for adversarial rewriting defense.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2 Architecture: Robust Generalization &amp; Adversarial Rewriting Defense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Mitigating generator and domain shift with adversarial robustness and supporting sentence-preserving chunk aggregation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Robust Generalization &amp; Adversarial Rewriting Defense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D97706"/>
                </a:solidFill>
                <a:latin typeface="Arial"/>
              </a:defRPr>
            </a:pPr>
            <a:r>
              <a:t>1. Cross-Generator Latent Invariance: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Learns generator-agnostic structural representations that withstand model shifts from seen LLMs (Sherkala-7B) to held-out architectures (Qwen-2.5-7B, Qwen Wild).</a:t>
            </a:r>
          </a:p>
          <a:p>
            <a:pPr>
              <a:spcBef>
                <a:spcPts val="350"/>
              </a:spcBef>
              <a:defRPr sz="850" b="1">
                <a:solidFill>
                  <a:srgbClr val="D97706"/>
                </a:solidFill>
                <a:latin typeface="Arial"/>
              </a:defRPr>
            </a:pPr>
            <a:r>
              <a:t>2. Adversarial Rewriting &amp; Perturbation Defense: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Formulated to defend against paraphrasing attacks, synonym substitution, and spelling noise by exploiting invariant morphological transition regularities.</a:t>
            </a:r>
          </a:p>
          <a:p>
            <a:pPr>
              <a:spcBef>
                <a:spcPts val="350"/>
              </a:spcBef>
              <a:defRPr sz="850" b="1">
                <a:solidFill>
                  <a:srgbClr val="D97706"/>
                </a:solidFill>
                <a:latin typeface="Arial"/>
              </a:defRPr>
            </a:pPr>
            <a:r>
              <a:t>3. Planned Contrastive Formulations for Paper 2: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Developing positive pairs between original AI text and AI-paraphrased text to directly benchmark robustness against modern generative rewriters.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14800"/>
            <a:ext cx="55595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14800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5137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Supporting Practical Extension: Sentence Chunking &amp; Dynamic Top-K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17136"/>
            <a:ext cx="5303520" cy="16459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rial"/>
              </a:defRPr>
            </a:pPr>
            <a:r>
              <a:t>1. Kazakh Abbreviation Protection Guards: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SentencePreservingChunker preserves boundary integrity across 10 common Kazakh abbreviations (ж., ғ., т.б., б.з.д.), avoiding spurious mid-sentence splits.</a:t>
            </a:r>
          </a:p>
          <a:p>
            <a:pPr>
              <a:spcBef>
                <a:spcPts val="350"/>
              </a:spcBef>
              <a:defRPr sz="850" b="1">
                <a:solidFill>
                  <a:srgbClr val="2563EB"/>
                </a:solidFill>
                <a:latin typeface="Arial"/>
              </a:defRPr>
            </a:pPr>
            <a:r>
              <a:t>2. Dynamic Top-K Worst-Chunk Pooling (K = max(1, floor(0.25N))):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Prevents naive mean dilution where isolated AI paragraphs in 20-page documents go undetected. Pools top 25% highest-risk chunks.</a:t>
            </a:r>
          </a:p>
          <a:p>
            <a:pPr>
              <a:spcBef>
                <a:spcPts val="350"/>
              </a:spcBef>
              <a:defRPr sz="850" b="1">
                <a:solidFill>
                  <a:srgbClr val="2563EB"/>
                </a:solidFill>
                <a:latin typeface="Arial"/>
              </a:defRPr>
            </a:pPr>
            <a:r>
              <a:t>3. Sub-Linear Micro-Batching Scalability: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Maintains bounded peak VRAM &lt; 1.4 GB and sub-linear latency (&lt;4.1s for 25,000 words), enabling practical document-level auditing.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3 Architecture: Evidence-Grounded Kazakh Claim Verification &amp; Trust Matrix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Decoupling stylistic AI generation from factual veracity via curated reference grounding and dual-risk scoring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Curated Kazakh-FEVER Pilot Verification Pipeline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1. Curated Pilot Knowledge Base (36 Articles):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Constructed from 36 authoritative encyclopedic articles spanning 4 national domains: Kazakh History, Public Law, Natural Science, and Healthcare.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2. 120 Annotated Verification Claims (40/40/40):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Balanced split across 40 SUPPORTS, 40 REFUTES, and 40 NOT ENOUGH INFO (NEI) claims paired with sentence-level gold evidence annotations.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3. BM25 Retrieval &amp; mDeBERTa-v3 3-Way NLI Verifier: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Surfaces Top-K candidate evidence passages and performs cross-lingual NLI to determine evidentiary support with calibrated epistemic uncertainty.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14800"/>
            <a:ext cx="55595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1480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5137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Two-Dimensional Risk Coordinates &amp; Decision Quadrants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17136"/>
            <a:ext cx="5303520" cy="16459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7C3AED"/>
                </a:solidFill>
                <a:latin typeface="Arial"/>
              </a:defRPr>
            </a:pPr>
            <a:r>
              <a:t>1. Primary Output: Two-Dimensional Coordinates (y_AI, R_fact):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Maps every text to the unit square [0, 1]^2, preserving orthogonal risk dimensions rather than collapsing them into an uninterpretable single metric.</a:t>
            </a:r>
          </a:p>
          <a:p>
            <a:pPr>
              <a:spcBef>
                <a:spcPts val="350"/>
              </a:spcBef>
              <a:defRPr sz="850" b="1">
                <a:solidFill>
                  <a:srgbClr val="7C3AED"/>
                </a:solidFill>
                <a:latin typeface="Arial"/>
              </a:defRPr>
            </a:pPr>
            <a:r>
              <a:t>2. Auxiliary Composite Risk Score: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R_Trust = alpha * y_AI + (1 - alpha) * R_fact (alpha = 0.5 default), used strictly for sorting and administrative ranking.</a:t>
            </a:r>
          </a:p>
          <a:p>
            <a:pPr>
              <a:spcBef>
                <a:spcPts val="350"/>
              </a:spcBef>
              <a:defRPr sz="850" b="1">
                <a:solidFill>
                  <a:srgbClr val="7C3AED"/>
                </a:solidFill>
                <a:latin typeface="Arial"/>
              </a:defRPr>
            </a:pPr>
            <a:r>
              <a:t>3. Epistemic Uncertainty &amp; Quadrant Separation: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NEI claims (R_fact = 0.50) represent evidence absence rather than falsehood. Clearly distinguishes Q2 (Human Rumor) from Q3 (Accurate AI).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Experimental Setup: Kazakh Adaptation of MAGE Evaluation Protocol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Rigorous 2x2 matrix evaluation across seen/unseen genres and generators with cross-validation isolation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255334"/>
              </p:ext>
            </p:extLst>
          </p:nvPr>
        </p:nvGraphicFramePr>
        <p:xfrm>
          <a:off x="548640" y="1874519"/>
          <a:ext cx="53763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2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558454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448726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Kazakh MAGE-Style Protocol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5" y="4517136"/>
            <a:ext cx="2361819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96881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6881" y="4114800"/>
            <a:ext cx="2558454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405673" y="4151376"/>
            <a:ext cx="239745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05673" y="4517136"/>
            <a:ext cx="2388748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- 314/314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3733" y="1874519"/>
            <a:ext cx="5900120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336666" y="5888736"/>
            <a:ext cx="530364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7. Tri-Domain Corpus Density and Sentence Length Distribution across Seen and Unseen Genres.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308DF6C1-39CD-9458-045B-1B8CA21F4D37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E1B409F-7E4C-7ED8-3D27-C4E0E3656119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Empirical Results: Resolving the Out-of-Domain Blindspot (+42.18 pp Gain)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Our Dual-Stream Morphological Gated Detector substantially mitigates domain degradation in our evaluation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+42.18 pp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+21.55 pp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Q3 Blindspot Resolved (+42.18 pp)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AUC increases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ROC-AUC 1.000 evaluated on held-out Qwen-2.5-7B web-crawled text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Q1 Test ROC-AUC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Mean AUC: 99.80 +/- 0.15% across 5 folds; Test Macro-F1: 99.24%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8. Multi-Quadrant ROC Curves on Kazakh MAGE-Style Protocol Demonstrating +42.18 pp OOD Gain.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B782E5A8-D12D-8246-68B8-3BE050EE06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249E817-48B0-02F9-9F18-282228DE47F4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2 Empirical Results: Cross-Generator Robustness &amp; Long-Document Evaluation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Evaluating out-of-distribution transfer and localized synthetic paragraph detection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770424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70424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28792" y="1874518"/>
            <a:ext cx="5211520" cy="23055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428792" y="1874519"/>
            <a:ext cx="5211520" cy="3728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524782" y="1911094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Cross-Generator Robustness &amp; Adversarial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0780" y="2276855"/>
            <a:ext cx="4971516" cy="18851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Character Span Fidelity: 100% exact character offset match (document[</a:t>
            </a:r>
            <a:r>
              <a:rPr sz="1000" dirty="0" err="1"/>
              <a:t>start:end</a:t>
            </a:r>
            <a:r>
              <a:rPr sz="1000" dirty="0"/>
              <a:t>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Volume-Weighted Ratio: </a:t>
            </a:r>
            <a:r>
              <a:rPr sz="1000" dirty="0" err="1"/>
              <a:t>Ratio_AI</a:t>
            </a:r>
            <a:r>
              <a:rPr sz="1000" dirty="0"/>
              <a:t>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28792" y="4160519"/>
            <a:ext cx="5211520" cy="220748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428792" y="4160520"/>
            <a:ext cx="5211520" cy="3728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524782" y="4197095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40780" y="4562855"/>
            <a:ext cx="4971516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Chunk evaluation micro-batched at </a:t>
            </a:r>
            <a:r>
              <a:rPr sz="1000" dirty="0" err="1"/>
              <a:t>batch_size</a:t>
            </a:r>
            <a:r>
              <a:rPr sz="1000" dirty="0"/>
              <a:t>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3 Empirical Results: Kazakh-FEVER Pilot Verification Benchmark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Empirical evaluation of evidence retrieval, NLI claim verification, and joint FEVER scoring on curated pilot data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High classification fidelity across Supports, Refutes, and NEI claims in pilot set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Evidence Recall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2208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Honest bottleneck analysis: Joint metric requires both exact evidence match and NLI label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Empirical validation of dual-risk coordinates separating authentic human fact from deceptive hallucination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Authentic news reports from Egemen </a:t>
            </a:r>
            <a:r>
              <a:rPr sz="1200" dirty="0" err="1"/>
              <a:t>Qazaqstan</a:t>
            </a:r>
            <a:r>
              <a:rPr sz="12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8"/>
            <a:ext cx="2697480" cy="40233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Disentangling sentence-level morphological inductive priors from document-level aggregation modules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1: FST Morphological Inductive Prior (+42.18 pp)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Outperforms Concatenation (+11.35 pp)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12. Component Ablation Performance </a:t>
            </a:r>
            <a:r>
              <a:rPr sz="900" dirty="0"/>
              <a:t>Comparison</a:t>
            </a:r>
            <a:r>
              <a:rPr dirty="0"/>
              <a:t>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Interactive 4-Tab Gradio Academic Prototype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Explainable AI detection and evidence-grounded verification prototype designed for academic integrity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Containerized prototype deployment bundle with sub-1.2s cold start, multi-format ingestion, and 314 passing tests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14. Hugging Face Spaces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1755648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6A34A"/>
                </a:solidFill>
                <a:latin typeface="Arial"/>
              </a:defRPr>
            </a:pPr>
            <a:r>
              <a:t>314 / 314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Automated Test Suite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  <a:latin typeface="Arial"/>
              </a:defRPr>
            </a:pPr>
            <a:r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73568" y="1874519"/>
            <a:ext cx="17556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73568" y="1874519"/>
            <a:ext cx="73152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01584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rial"/>
              </a:defRPr>
            </a:pPr>
            <a:r>
              <a:t>&lt; 1.2s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Cold-Start Latency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  <a:latin typeface="Arial"/>
              </a:defRPr>
            </a:pPr>
            <a:r>
              <a:t>Sub-1.2s (~1s)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66376" y="1874519"/>
            <a:ext cx="177393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66376" y="1874519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94392" y="1947672"/>
            <a:ext cx="1591056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D9488"/>
                </a:solidFill>
                <a:latin typeface="Arial"/>
              </a:defRPr>
            </a:pPr>
            <a:r>
              <a:t>3 Formats</a:t>
            </a:r>
          </a:p>
          <a:p>
            <a:pPr>
              <a:spcBef>
                <a:spcPts val="2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Multi-Format Ingestion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  <a:latin typeface="Arial"/>
              </a:defRPr>
            </a:pPr>
            <a:r>
              <a:t>Defensive parsing for .txt, .docx, .pdf with 10MB memory guards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80760" y="3703320"/>
            <a:ext cx="555955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80760" y="370332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90488" y="37398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Hugging Face Spaces Containerized Prototype Features (hf_space/)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08776" y="4105655"/>
            <a:ext cx="53035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19">
                <a:solidFill>
                  <a:srgbClr val="334155"/>
                </a:solidFill>
                <a:latin typeface="Arial"/>
              </a:defRPr>
            </a:pPr>
            <a:r>
              <a:t>1. Standalone Container Bundle: Decoupled from heavy cluster weights; utilizes distilled models and defensive mock fallbacks for resilient cloud hosting.</a:t>
            </a:r>
          </a:p>
          <a:p>
            <a:pPr>
              <a:spcBef>
                <a:spcPts val="200"/>
              </a:spcBef>
              <a:defRPr sz="819">
                <a:solidFill>
                  <a:srgbClr val="334155"/>
                </a:solidFill>
                <a:latin typeface="Arial"/>
              </a:defRPr>
            </a:pPr>
            <a:r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00"/>
              </a:spcBef>
              <a:defRPr sz="819">
                <a:solidFill>
                  <a:srgbClr val="334155"/>
                </a:solidFill>
                <a:latin typeface="Arial"/>
              </a:defRPr>
            </a:pPr>
            <a:r>
              <a:t>3. Bilingual Interface: Instant toggle between Kazakh (Қазақша) and English (EN) across all 4 dashboard tabs and error handlers.</a:t>
            </a:r>
          </a:p>
          <a:p>
            <a:pPr>
              <a:spcBef>
                <a:spcPts val="200"/>
              </a:spcBef>
              <a:defRPr sz="819">
                <a:solidFill>
                  <a:srgbClr val="334155"/>
                </a:solidFill>
                <a:latin typeface="Arial"/>
              </a:defRPr>
            </a:pPr>
            <a:r>
              <a:t>4. Rigorous Continuous Integration: 314 / 314 passing unit and regression tests verifying all mathematical and engineering invariants.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411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prototype milestones achieved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9F832E22-E21E-7C77-D5B1-35B883E4D9F7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7BADD71-612D-33D3-3FC3-279A799788E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Four Primary Academic &amp; System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Algorithmic Contribution: Dual-Stream Morphology-Aware Gated Fusion: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Pioneered the integration of rule-based 83-rule FST morphological representations with transformer semantic backbones via learned dynamic gating, substantially mitigating out-of-domain collapse (+42.18 pp OOD gain).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Methodological &amp; Practical Extension: Cross-Generator Robustness &amp; Chunk Aggregation: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Established generator-invariant detection under unseen LLMs and engineered sentence-preserving chunking with 10 Kazakh abbreviation guards and dynamic Top-K pooling for documents up to 25,000 words.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Trustworthy Verification Contribution: Evidence-Grounded Kazakh Verification Pilot: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Constructed the first curated Kazakh-FEVER pilot benchmark (36 articles, 120 claims) and two-dimensional Four-Quadrant Trust Matrix decoupling factual veracity from AI style.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4. Engineering &amp; Prototype Contribution: Interactive Dashboard &amp; Cloud Serving Platform: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Delivered a reproducible 4-tab Gradio prototype, multi-format ingestion engine (.txt, .docx, .pdf), and 314 / 314 passing automated regression tests.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- Motivation, Turkic linguistic context, problem formulation.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- SOTA detectors, LLM watermarks, fact-checking corpora.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- Topic 1 Morphological Gated Fusion &amp; SupCon formulations.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4: Experiments &amp; Robustness (100% Complete)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- Topic 2 MAGE-style 2x2 matrix, cross-generator evaluation.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5: Evidence-Grounded Verification (90% Complete)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- Topic 3 Kazakh-FEVER pilot benchmark, 2D Trust Matrix.</a:t>
            </a:r>
          </a:p>
          <a:p>
            <a:pPr>
              <a:spcBef>
                <a:spcPts val="35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6: System Prototype &amp; Roadmap (70% Complete)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- Gradio prototype, Paper 2 adversarial rewriting attack roadmap.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Current Progress: LNCS Acceptance &amp; September Meeting Agenda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Microsoft YaHei"/>
              </a:defRPr>
            </a:pPr>
            <a:r>
              <a:t>论文录用进展、9月课题组汇报演示计划与后续工作推进安排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ACCEPTED</a:t>
            </a:r>
            <a:br/>
            <a:r>
              <a:t>Springer LNCS (AIST 2026)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Status: Officially accepted to Springer LNCS; camera-ready finalized.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Contribution: Formally validates dual-stream gated fusion and MAGE-style benchmark.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MEETING AGENDA</a:t>
            </a:r>
            <a:br/>
            <a:r>
              <a:t>Live System Demonstration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Interactive 4-tab Gradio system prepared for today's meeting demonstration.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1: Real-time sentence explainability heatmap and discourse reasoning.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2: Morphological FST Lab with live root/affix decomposition.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3 &amp; 4: Benchmark explorer and Kazakh-FEVER trust matrix.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SEPTEMBER PROGRESS</a:t>
            </a:r>
            <a:br/>
            <a:r>
              <a:t>Research Milestones (~85%)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Curated 10,000+ benchmark dataset across News, Wikipedia, and Consumer Reviews.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Kazakh-FEVER: Curated 36 articles and 120 verified claims; 100% NLI Macro-F1.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Engineering: Micro-batching (&lt;1.4 GB VRAM); 314 automated passing tests.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NEXT STEPS</a:t>
            </a:r>
            <a:br/>
            <a:r>
              <a:t>Guidance Requested from Prof. Guo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Feedback Integration: Incorporate Professor Guo's advice on framework diagrams and thesis draft.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2 Preparation: Draft manuscript on Kazakh-FEVER &amp; Four-Quadrant Trust Matrix.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Chapter Finalization: Schedule internal laboratory review for Chapters 5 &amp; 6.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A1946540-C07B-88A5-D155-ED0C9B0C10DD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FD87A-8429-FE5A-DC92-A0E6F6DB4C6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Three core strategic decisions regarding Topic 2 robustness experiments, Kazakh-FEVER expansion, and Paper 2 target venue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Three Core Strategic Consultation Points for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Topic 2 Adversarial Rewriting Attack Benchmark Execution: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How should we structure the experimental suite for paraphrasing, synonym replacement, and morphological inflection perturbation for Paper 2? Recommended approach: evaluate rule-based synonym substitution and LLM paraphrasing on held-out test splits.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Kazakh-FEVER Evidence Retrieval Expansion Strategy: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Our pilot evaluation features 36 curated articles and 120 claims (Macro-F1: 100.0%, Joint FEVER: 66.67%). Should we expand to 100+ articles with dense retrieval (BM25 vs. multilingual dense embeddings) prior to Paper 2 submission?</a:t>
            </a:r>
          </a:p>
          <a:p>
            <a:pPr>
              <a:spcBef>
                <a:spcPts val="35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Paper 2 Framing &amp; Target Venue Alignment:</a:t>
            </a:r>
          </a:p>
          <a:p>
            <a:pPr>
              <a:spcBef>
                <a:spcPts val="100"/>
              </a:spcBef>
              <a:defRPr sz="780" b="0">
                <a:solidFill>
                  <a:srgbClr val="334155"/>
                </a:solidFill>
                <a:latin typeface="Arial"/>
              </a:defRPr>
            </a:pPr>
            <a:r>
              <a:t>Option A: Algorithmic methodology paper targeting EMNLP (focusing on the Dual-Risk Trust Matrix and dynamic gated optimization).</a:t>
            </a:r>
            <a:br/>
            <a:r>
              <a:t>Option B: Benchmark &amp; resource paper targeting LREC/COLING (highlighting the Kazakh-FEVER corpus and Central Asian NLP gap).</a:t>
            </a:r>
            <a:br/>
            <a:r>
              <a:t>What is Professor Guo's advice on venue alignment and narrative emphasis?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980" b="0">
                <a:solidFill>
                  <a:srgbClr val="64748B"/>
                </a:solidFill>
                <a:latin typeface="Arial"/>
              </a:defRPr>
            </a:pPr>
            <a:r>
              <a:t>Itemized academic revisions: Addressing internal and international committee feedback with verified empirical rigor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Addressed in Thesis Chapter 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Addressed in Thesis Chapter 4 &amp; 6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Addressed in Thesis Chapter 5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314/314 passing tests; sub-1.2s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Addressed in Thesis Chapter 6 (314 Tests)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Addressed in Thesis Chapter 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Addressed in Thesis Chapter 5 &amp; 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3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rPr dirty="0"/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| </a:t>
            </a:r>
            <a:r>
              <a:rPr dirty="0" err="1"/>
              <a:t>导师：郭教授</a:t>
            </a:r>
            <a:r>
              <a:rPr dirty="0"/>
              <a:t>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rPr dirty="0" err="1"/>
              <a:t>请郭老师批评指正</a:t>
            </a:r>
            <a:endParaRPr dirty="0"/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5100</Words>
  <Application>Microsoft Office PowerPoint</Application>
  <PresentationFormat>Широкоэкранный</PresentationFormat>
  <Paragraphs>642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Microsoft YaHei</vt:lpstr>
      <vt:lpstr>黑体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Daulet</dc:creator>
  <cp:lastModifiedBy>Әнекеш Дәулет Бауыржанұлы</cp:lastModifiedBy>
  <cp:revision>121</cp:revision>
  <dcterms:created xsi:type="dcterms:W3CDTF">2023-08-09T12:44:00Z</dcterms:created>
  <dcterms:modified xsi:type="dcterms:W3CDTF">2026-09-12T16:20:36Z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